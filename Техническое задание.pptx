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-7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83889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buClr>
                <a:srgbClr val="888888"/>
              </a:buClr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buClr>
                <a:srgbClr val="888888"/>
              </a:buClr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buClr>
                <a:srgbClr val="888888"/>
              </a:buClr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13970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lvl="1" indent="-107950" algn="l" rtl="0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lvl="2" indent="-76200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lvl="3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lvl="4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l" rtl="0">
              <a:spcBef>
                <a:spcPts val="0"/>
              </a:spcBef>
              <a:defRPr sz="4000" b="1" cap="none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lvl="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457200" lvl="1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914400" lvl="2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1371600" lvl="3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marL="1828800" lvl="4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marL="2286000" lvl="5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marL="2743200" lvl="6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marL="3200400" lvl="7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marL="3657600" lvl="8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lvl="0" indent="0" rtl="0">
              <a:spcBef>
                <a:spcPts val="0"/>
              </a:spcBef>
              <a:buFont typeface="Calibri"/>
              <a:buNone/>
              <a:defRPr sz="2400" b="1"/>
            </a:lvl1pPr>
            <a:lvl2pPr marL="457200" lvl="1" indent="0" rtl="0">
              <a:spcBef>
                <a:spcPts val="0"/>
              </a:spcBef>
              <a:buFont typeface="Calibri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Calibri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Calibri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Calibri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Calibri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Calibri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Calibri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lvl="0" indent="0" rtl="0">
              <a:spcBef>
                <a:spcPts val="0"/>
              </a:spcBef>
              <a:buFont typeface="Calibri"/>
              <a:buNone/>
              <a:defRPr sz="2400" b="1"/>
            </a:lvl1pPr>
            <a:lvl2pPr marL="457200" lvl="1" indent="0" rtl="0">
              <a:spcBef>
                <a:spcPts val="0"/>
              </a:spcBef>
              <a:buFont typeface="Calibri"/>
              <a:buNone/>
              <a:defRPr sz="2000" b="1"/>
            </a:lvl2pPr>
            <a:lvl3pPr marL="914400" lvl="2" indent="0" rtl="0">
              <a:spcBef>
                <a:spcPts val="0"/>
              </a:spcBef>
              <a:buFont typeface="Calibri"/>
              <a:buNone/>
              <a:defRPr sz="1800" b="1"/>
            </a:lvl3pPr>
            <a:lvl4pPr marL="1371600" lvl="3" indent="0" rtl="0">
              <a:spcBef>
                <a:spcPts val="0"/>
              </a:spcBef>
              <a:buFont typeface="Calibri"/>
              <a:buNone/>
              <a:defRPr sz="1600" b="1"/>
            </a:lvl4pPr>
            <a:lvl5pPr marL="1828800" lvl="4" indent="0" rtl="0">
              <a:spcBef>
                <a:spcPts val="0"/>
              </a:spcBef>
              <a:buFont typeface="Calibri"/>
              <a:buNone/>
              <a:defRPr sz="1600" b="1"/>
            </a:lvl5pPr>
            <a:lvl6pPr marL="2286000" lvl="5" indent="0" rtl="0">
              <a:spcBef>
                <a:spcPts val="0"/>
              </a:spcBef>
              <a:buFont typeface="Calibri"/>
              <a:buNone/>
              <a:defRPr sz="1600" b="1"/>
            </a:lvl6pPr>
            <a:lvl7pPr marL="2743200" lvl="6" indent="0" rtl="0">
              <a:spcBef>
                <a:spcPts val="0"/>
              </a:spcBef>
              <a:buFont typeface="Calibri"/>
              <a:buNone/>
              <a:defRPr sz="1600" b="1"/>
            </a:lvl7pPr>
            <a:lvl8pPr marL="3200400" lvl="7" indent="0" rtl="0">
              <a:spcBef>
                <a:spcPts val="0"/>
              </a:spcBef>
              <a:buFont typeface="Calibri"/>
              <a:buNone/>
              <a:defRPr sz="1600" b="1"/>
            </a:lvl8pPr>
            <a:lvl9pPr marL="3657600" lvl="8" indent="0" rtl="0">
              <a:spcBef>
                <a:spcPts val="0"/>
              </a:spcBef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defRPr sz="2000" b="1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 sz="3200"/>
            </a:lvl1pPr>
            <a:lvl2pPr lvl="1" rtl="0">
              <a:spcBef>
                <a:spcPts val="0"/>
              </a:spcBef>
              <a:defRPr sz="2800"/>
            </a:lvl2pPr>
            <a:lvl3pPr lvl="2" rtl="0">
              <a:spcBef>
                <a:spcPts val="0"/>
              </a:spcBef>
              <a:defRPr sz="2400"/>
            </a:lvl3pPr>
            <a:lvl4pPr lvl="3" rtl="0">
              <a:spcBef>
                <a:spcPts val="0"/>
              </a:spcBef>
              <a:defRPr sz="2000"/>
            </a:lvl4pPr>
            <a:lvl5pPr lvl="4" rtl="0">
              <a:spcBef>
                <a:spcPts val="0"/>
              </a:spcBef>
              <a:defRPr sz="2000"/>
            </a:lvl5pPr>
            <a:lvl6pPr lvl="5" rtl="0">
              <a:spcBef>
                <a:spcPts val="0"/>
              </a:spcBef>
              <a:defRPr sz="2000"/>
            </a:lvl6pPr>
            <a:lvl7pPr lvl="6" rtl="0">
              <a:spcBef>
                <a:spcPts val="0"/>
              </a:spcBef>
              <a:defRPr sz="2000"/>
            </a:lvl7pPr>
            <a:lvl8pPr lvl="7" rtl="0">
              <a:spcBef>
                <a:spcPts val="0"/>
              </a:spcBef>
              <a:defRPr sz="2000"/>
            </a:lvl8pPr>
            <a:lvl9pPr lvl="8" rtl="0">
              <a:spcBef>
                <a:spcPts val="0"/>
              </a:spcBef>
              <a:defRPr sz="20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rtl="0">
              <a:spcBef>
                <a:spcPts val="0"/>
              </a:spcBef>
              <a:buFont typeface="Calibri"/>
              <a:buNone/>
              <a:defRPr sz="1400"/>
            </a:lvl1pPr>
            <a:lvl2pPr marL="457200" lvl="1" indent="0" rtl="0">
              <a:spcBef>
                <a:spcPts val="0"/>
              </a:spcBef>
              <a:buFont typeface="Calibri"/>
              <a:buNone/>
              <a:defRPr sz="1200"/>
            </a:lvl2pPr>
            <a:lvl3pPr marL="914400" lvl="2" indent="0" rtl="0">
              <a:spcBef>
                <a:spcPts val="0"/>
              </a:spcBef>
              <a:buFont typeface="Calibri"/>
              <a:buNone/>
              <a:defRPr sz="1000"/>
            </a:lvl3pPr>
            <a:lvl4pPr marL="1371600" lvl="3" indent="0" rtl="0">
              <a:spcBef>
                <a:spcPts val="0"/>
              </a:spcBef>
              <a:buFont typeface="Calibri"/>
              <a:buNone/>
              <a:defRPr sz="900"/>
            </a:lvl4pPr>
            <a:lvl5pPr marL="1828800" lvl="4" indent="0" rtl="0">
              <a:spcBef>
                <a:spcPts val="0"/>
              </a:spcBef>
              <a:buFont typeface="Calibri"/>
              <a:buNone/>
              <a:defRPr sz="900"/>
            </a:lvl5pPr>
            <a:lvl6pPr marL="2286000" lvl="5" indent="0" rtl="0">
              <a:spcBef>
                <a:spcPts val="0"/>
              </a:spcBef>
              <a:buFont typeface="Calibri"/>
              <a:buNone/>
              <a:defRPr sz="900"/>
            </a:lvl6pPr>
            <a:lvl7pPr marL="2743200" lvl="6" indent="0" rtl="0">
              <a:spcBef>
                <a:spcPts val="0"/>
              </a:spcBef>
              <a:buFont typeface="Calibri"/>
              <a:buNone/>
              <a:defRPr sz="900"/>
            </a:lvl7pPr>
            <a:lvl8pPr marL="3200400" lvl="7" indent="0" rtl="0">
              <a:spcBef>
                <a:spcPts val="0"/>
              </a:spcBef>
              <a:buFont typeface="Calibri"/>
              <a:buNone/>
              <a:defRPr sz="900"/>
            </a:lvl8pPr>
            <a:lvl9pPr marL="3657600" lvl="8" indent="0" rtl="0">
              <a:spcBef>
                <a:spcPts val="0"/>
              </a:spcBef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defRPr sz="2000" b="1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lvl="0" indent="0" rtl="0">
              <a:spcBef>
                <a:spcPts val="0"/>
              </a:spcBef>
              <a:buFont typeface="Calibri"/>
              <a:buNone/>
              <a:defRPr sz="1400"/>
            </a:lvl1pPr>
            <a:lvl2pPr marL="457200" lvl="1" indent="0" rtl="0">
              <a:spcBef>
                <a:spcPts val="0"/>
              </a:spcBef>
              <a:buFont typeface="Calibri"/>
              <a:buNone/>
              <a:defRPr sz="1200"/>
            </a:lvl2pPr>
            <a:lvl3pPr marL="914400" lvl="2" indent="0" rtl="0">
              <a:spcBef>
                <a:spcPts val="0"/>
              </a:spcBef>
              <a:buFont typeface="Calibri"/>
              <a:buNone/>
              <a:defRPr sz="1000"/>
            </a:lvl3pPr>
            <a:lvl4pPr marL="1371600" lvl="3" indent="0" rtl="0">
              <a:spcBef>
                <a:spcPts val="0"/>
              </a:spcBef>
              <a:buFont typeface="Calibri"/>
              <a:buNone/>
              <a:defRPr sz="900"/>
            </a:lvl4pPr>
            <a:lvl5pPr marL="1828800" lvl="4" indent="0" rtl="0">
              <a:spcBef>
                <a:spcPts val="0"/>
              </a:spcBef>
              <a:buFont typeface="Calibri"/>
              <a:buNone/>
              <a:defRPr sz="900"/>
            </a:lvl5pPr>
            <a:lvl6pPr marL="2286000" lvl="5" indent="0" rtl="0">
              <a:spcBef>
                <a:spcPts val="0"/>
              </a:spcBef>
              <a:buFont typeface="Calibri"/>
              <a:buNone/>
              <a:defRPr sz="900"/>
            </a:lvl6pPr>
            <a:lvl7pPr marL="2743200" lvl="6" indent="0" rtl="0">
              <a:spcBef>
                <a:spcPts val="0"/>
              </a:spcBef>
              <a:buFont typeface="Calibri"/>
              <a:buNone/>
              <a:defRPr sz="900"/>
            </a:lvl7pPr>
            <a:lvl8pPr marL="3200400" lvl="7" indent="0" rtl="0">
              <a:spcBef>
                <a:spcPts val="0"/>
              </a:spcBef>
              <a:buFont typeface="Calibri"/>
              <a:buNone/>
              <a:defRPr sz="900"/>
            </a:lvl8pPr>
            <a:lvl9pPr marL="3657600" lvl="8" indent="0" rtl="0">
              <a:spcBef>
                <a:spcPts val="0"/>
              </a:spcBef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13970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lvl="1" indent="-107950" algn="l" rtl="0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lvl="2" indent="-76200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lvl="3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lvl="4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13970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lvl="1" indent="-107950" algn="l" rtl="0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lvl="2" indent="-76200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lvl="3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lvl="4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defRPr/>
            </a:lvl2pPr>
            <a:lvl3pPr marL="0" marR="0" lvl="2" indent="0" algn="l" rtl="0">
              <a:spcBef>
                <a:spcPts val="0"/>
              </a:spcBef>
              <a:defRPr/>
            </a:lvl3pPr>
            <a:lvl4pPr marL="0" marR="0" lvl="3" indent="0" algn="l" rtl="0">
              <a:spcBef>
                <a:spcPts val="0"/>
              </a:spcBef>
              <a:defRPr/>
            </a:lvl4pPr>
            <a:lvl5pPr marL="0" marR="0" lvl="4" indent="0" algn="l" rtl="0">
              <a:spcBef>
                <a:spcPts val="0"/>
              </a:spcBef>
              <a:defRPr/>
            </a:lvl5pPr>
            <a:lvl6pPr marL="0" marR="0" lvl="5" indent="0" algn="l" rtl="0">
              <a:spcBef>
                <a:spcPts val="0"/>
              </a:spcBef>
              <a:defRPr/>
            </a:lvl6pPr>
            <a:lvl7pPr marL="0" marR="0" lvl="6" indent="0" algn="l" rtl="0">
              <a:spcBef>
                <a:spcPts val="0"/>
              </a:spcBef>
              <a:defRPr/>
            </a:lvl7pPr>
            <a:lvl8pPr marL="0" marR="0" lvl="7" indent="0" algn="l" rtl="0">
              <a:spcBef>
                <a:spcPts val="0"/>
              </a:spcBef>
              <a:defRPr/>
            </a:lvl8pPr>
            <a:lvl9pPr marL="0" marR="0" lvl="8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07950" algn="l" rtl="0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ru-RU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Техническое задание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rgbClr val="888888"/>
              </a:buClr>
              <a:buSzPct val="25000"/>
              <a:buFont typeface="Arial"/>
              <a:buNone/>
            </a:pPr>
            <a:r>
              <a:rPr lang="ru-RU"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Рекомендации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такое?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98666"/>
              <a:buFont typeface="Arial"/>
              <a:buChar char="•"/>
            </a:pPr>
            <a:r>
              <a:rPr lang="ru-RU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Техническое задание (ТЗ) — исходный документ на проектирование технического объекта (изделия) 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ct val="98666"/>
              <a:buFont typeface="Arial"/>
              <a:buChar char="•"/>
            </a:pPr>
            <a:r>
              <a:rPr lang="ru-RU" sz="2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ТЗ устанавливает: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основное назначение разрабатываемого объекта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его технические характеристики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показатели качества и технико-экономические требования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предписание по выполнению необходимых стадий создания документации и её состав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специальные требования.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ТЗ по ГОСТ 34.602-89</a:t>
            </a: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общие сведения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назначение и цели создания (развития) системы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характеристика объектов автоматизации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системе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состав и содержание работ по созданию системы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порядок контроля и приемки системы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составу и содержанию работ по подготовке объекта автоматизации к вводу системы в действие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документированию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100916"/>
              <a:buFont typeface="Arial"/>
              <a:buChar char="•"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источники разработки</a:t>
            </a:r>
          </a:p>
          <a:p>
            <a:pPr marL="0" marR="0" lvl="0" indent="0" algn="l" rtl="0">
              <a:lnSpc>
                <a:spcPct val="80000"/>
              </a:lnSpc>
              <a:spcBef>
                <a:spcPts val="484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ru-RU" sz="24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в техническое задание допускается включать приложения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ТЗ по ГОСТ 19.201-78</a:t>
            </a:r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основания для разработки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назначение разработки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программе или программному изделию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программной документации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технико-экономические показатели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стадии и этапы разработки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порядок контроля и приемки</a:t>
            </a:r>
          </a:p>
          <a:p>
            <a:pPr marL="0" marR="0" lvl="0" indent="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в техническое задание допускается включать приложения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None/>
            </a:pPr>
            <a:endParaRPr sz="2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39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SRS (</a:t>
            </a:r>
            <a:r>
              <a:rPr lang="ru-RU" sz="3959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 Specification)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1818"/>
              <a:buFont typeface="Arial"/>
              <a:buChar char="•"/>
            </a:pPr>
            <a:r>
              <a:rPr lang="ru-RU" sz="2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Цели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Соглашения о терминах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Предполагаемая аудитория и последовательность восприятия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Масштаб проекта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Ссылки на источники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ct val="101818"/>
              <a:buFont typeface="Arial"/>
              <a:buChar char="•"/>
            </a:pPr>
            <a:r>
              <a:rPr lang="ru-RU" sz="2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Общее описание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Видение продукта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Функциональность продукта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Классы и характеристики пользователей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Среда функционирования продукта (операционная среда)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Рамки, ограничения, правила и стандарты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Документация для пользователей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92"/>
              </a:spcBef>
              <a:buClr>
                <a:schemeClr val="dk1"/>
              </a:buClr>
              <a:buSzPct val="98000"/>
              <a:buFont typeface="Arial"/>
              <a:buChar char="–"/>
            </a:pPr>
            <a:r>
              <a:rPr lang="ru-RU" sz="1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Допущения и зависимости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48"/>
              </a:spcBef>
              <a:buClr>
                <a:schemeClr val="dk1"/>
              </a:buClr>
              <a:buSzPct val="101818"/>
              <a:buFont typeface="Arial"/>
              <a:buNone/>
            </a:pPr>
            <a:endParaRPr sz="22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39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SRS (</a:t>
            </a:r>
            <a:r>
              <a:rPr lang="ru-RU" sz="3959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 Specification)</a:t>
            </a: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Функциональность системы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Функциональный блок X (таких блоков может быть несколько)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и приоритет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Причинно-следственные связи, алгоритмы (движение процессов, </a:t>
            </a:r>
            <a:r>
              <a:rPr lang="ru-RU" sz="15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workflows</a:t>
            </a:r>
            <a:r>
              <a:rPr lang="ru-RU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3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Функциональные требования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внешним интерфейсам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Интерфейсы пользователя (UX)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Программные интерфейсы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Интерфейсы оборудования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Интерфейсы связи и коммуникации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Нефункциональные требования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производительности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сохранности (данных)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Критерии качества программного обеспечения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350"/>
              </a:spcBef>
              <a:buClr>
                <a:schemeClr val="dk1"/>
              </a:buClr>
              <a:buSzPct val="97222"/>
              <a:buFont typeface="Arial"/>
              <a:buChar char="–"/>
            </a:pPr>
            <a:r>
              <a:rPr lang="ru-RU" sz="1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безопасности системы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Прочие 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</a:t>
            </a:r>
            <a:endParaRPr lang="en-US" sz="20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indent="-285750">
              <a:lnSpc>
                <a:spcPct val="80000"/>
              </a:lnSpc>
              <a:spcBef>
                <a:spcPts val="350"/>
              </a:spcBef>
              <a:buSzPct val="97222"/>
            </a:pPr>
            <a:r>
              <a:rPr lang="ru-RU" sz="1750" dirty="0"/>
              <a:t>Приложение А: Глоссарий</a:t>
            </a:r>
          </a:p>
          <a:p>
            <a:pPr lvl="1" indent="-285750">
              <a:lnSpc>
                <a:spcPct val="80000"/>
              </a:lnSpc>
              <a:spcBef>
                <a:spcPts val="350"/>
              </a:spcBef>
              <a:buSzPct val="97222"/>
            </a:pPr>
            <a:r>
              <a:rPr lang="ru-RU" sz="1750" dirty="0"/>
              <a:t>Приложение Б: Модели процессов и предметной области и другие диаграммы</a:t>
            </a:r>
          </a:p>
          <a:p>
            <a:pPr lvl="1" indent="-285750">
              <a:lnSpc>
                <a:spcPct val="80000"/>
              </a:lnSpc>
              <a:spcBef>
                <a:spcPts val="350"/>
              </a:spcBef>
              <a:buSzPct val="97222"/>
            </a:pPr>
            <a:r>
              <a:rPr lang="ru-RU" sz="1750" dirty="0"/>
              <a:t>Приложение В: Список ключевых задач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</a:pPr>
            <a:endParaRPr lang="ru-RU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Предлагаемая структура ТЗ</a:t>
            </a:r>
          </a:p>
        </p:txBody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Название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Цели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Видение продукта (Vision)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76"/>
              </a:spcBef>
              <a:buClr>
                <a:schemeClr val="dk1"/>
              </a:buClr>
              <a:buSzPct val="99166"/>
              <a:buFont typeface="Arial"/>
              <a:buChar char="–"/>
            </a:pPr>
            <a:r>
              <a:rPr lang="ru-RU" sz="23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общее представление о продукте, так чтобы ознакомить с сутью проекта ЛЮБОЕ заинтересованное лицо</a:t>
            </a:r>
          </a:p>
          <a:p>
            <a:pPr marL="742950" marR="0" lvl="1" indent="-285750" algn="l" rtl="0">
              <a:lnSpc>
                <a:spcPct val="90000"/>
              </a:lnSpc>
              <a:spcBef>
                <a:spcPts val="476"/>
              </a:spcBef>
              <a:buClr>
                <a:schemeClr val="dk1"/>
              </a:buClr>
              <a:buSzPct val="99166"/>
              <a:buFont typeface="Arial"/>
              <a:buChar char="–"/>
            </a:pPr>
            <a:r>
              <a:rPr lang="ru-RU" sz="23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общее представление о бизнес-целях продукта (бизнес-требования)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Функциональность продукта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Классы и характеристики пользователей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Char char="•"/>
            </a:pPr>
            <a:r>
              <a:rPr lang="ru-RU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Рамки и ограничения проекта (бизнес-правила)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544"/>
              </a:spcBef>
              <a:buClr>
                <a:schemeClr val="dk1"/>
              </a:buClr>
              <a:buSzPct val="100740"/>
              <a:buFont typeface="Arial"/>
              <a:buNone/>
            </a:pPr>
            <a:endParaRPr sz="2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Предлагаемая структура ТЗ</a:t>
            </a:r>
          </a:p>
        </p:txBody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ct val="98666"/>
              <a:buFont typeface="Arial"/>
              <a:buChar char="•"/>
            </a:pPr>
            <a:r>
              <a:rPr lang="ru-RU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Функциональность системы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Функциональный блок X (таких блоков может быть несколько)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ct val="100909"/>
              <a:buFont typeface="Arial"/>
              <a:buChar char="•"/>
            </a:pPr>
            <a:r>
              <a:rPr lang="ru-RU" sz="222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и приоритет (пользовательское требование)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ct val="100909"/>
              <a:buFont typeface="Arial"/>
              <a:buChar char="•"/>
            </a:pPr>
            <a:r>
              <a:rPr lang="ru-RU" sz="222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Причинно-следственные связи, алгоритмы </a:t>
            </a:r>
          </a:p>
          <a:p>
            <a:pPr marL="1143000" marR="0" lvl="2" indent="-228600" algn="l" rtl="0">
              <a:lnSpc>
                <a:spcPct val="80000"/>
              </a:lnSpc>
              <a:spcBef>
                <a:spcPts val="444"/>
              </a:spcBef>
              <a:buClr>
                <a:schemeClr val="dk1"/>
              </a:buClr>
              <a:buSzPct val="100909"/>
              <a:buFont typeface="Arial"/>
              <a:buChar char="•"/>
            </a:pPr>
            <a:r>
              <a:rPr lang="ru-RU" sz="222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Функциональные требования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ct val="98666"/>
              <a:buFont typeface="Arial"/>
              <a:buChar char="•"/>
            </a:pPr>
            <a:r>
              <a:rPr lang="ru-RU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Нефункциональные требования: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Атрибуты качества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Внешние интерфейсы</a:t>
            </a:r>
          </a:p>
          <a:p>
            <a:pPr marL="742950" marR="0" lvl="1" indent="-285750" algn="l" rtl="0">
              <a:lnSpc>
                <a:spcPct val="80000"/>
              </a:lnSpc>
              <a:spcBef>
                <a:spcPts val="518"/>
              </a:spcBef>
              <a:buClr>
                <a:schemeClr val="dk1"/>
              </a:buClr>
              <a:buSzPct val="99615"/>
              <a:buFont typeface="Arial"/>
              <a:buChar char="–"/>
            </a:pPr>
            <a:r>
              <a:rPr lang="ru-RU" sz="25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ct val="98666"/>
              <a:buFont typeface="Arial"/>
              <a:buChar char="•"/>
            </a:pPr>
            <a:r>
              <a:rPr lang="ru-RU" sz="296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Прочие требования</a:t>
            </a:r>
          </a:p>
          <a:p>
            <a:pPr marL="342900" marR="0" lvl="0" indent="-342900" algn="l" rtl="0">
              <a:lnSpc>
                <a:spcPct val="80000"/>
              </a:lnSpc>
              <a:spcBef>
                <a:spcPts val="592"/>
              </a:spcBef>
              <a:buClr>
                <a:schemeClr val="dk1"/>
              </a:buClr>
              <a:buSzPct val="98666"/>
              <a:buFont typeface="Arial"/>
              <a:buNone/>
            </a:pPr>
            <a:endParaRPr sz="296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ru-RU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Предлагаемая структура ТЗ</a:t>
            </a:r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 к программной документации</a:t>
            </a: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Стадии и этапы разработки</a:t>
            </a: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Порядок контроля и приемки выполненных работ</a:t>
            </a: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ru-RU" dirty="0"/>
              <a:t>*</a:t>
            </a:r>
            <a:r>
              <a:rPr lang="ru-RU"/>
              <a:t>Руководство пользователя</a:t>
            </a:r>
            <a:endParaRPr lang="ru-RU"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391</Words>
  <Application>Microsoft Office PowerPoint</Application>
  <PresentationFormat>Экран (4:3)</PresentationFormat>
  <Paragraphs>91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Техническое задание</vt:lpstr>
      <vt:lpstr>Что такое?</vt:lpstr>
      <vt:lpstr>ТЗ по ГОСТ 34.602-89</vt:lpstr>
      <vt:lpstr>ТЗ по ГОСТ 19.201-78</vt:lpstr>
      <vt:lpstr>SRS (Software Requirements Specification)</vt:lpstr>
      <vt:lpstr>SRS (Software Requirements Specification)</vt:lpstr>
      <vt:lpstr>Предлагаемая структура ТЗ</vt:lpstr>
      <vt:lpstr>Предлагаемая структура ТЗ</vt:lpstr>
      <vt:lpstr>Предлагаемая структура ТЗ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Техническое задание</dc:title>
  <cp:lastModifiedBy>Землянская Ксения Викторовна</cp:lastModifiedBy>
  <cp:revision>4</cp:revision>
  <dcterms:modified xsi:type="dcterms:W3CDTF">2017-11-09T08:32:20Z</dcterms:modified>
</cp:coreProperties>
</file>